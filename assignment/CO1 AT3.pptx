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3"/>
    <p:sldId id="256" r:id="rId4"/>
    <p:sldId id="257" r:id="rId5"/>
    <p:sldId id="258" r:id="rId6"/>
    <p:sldId id="259" r:id="rId7"/>
    <p:sldId id="260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1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image1.pn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3657" y="130629"/>
            <a:ext cx="11560629" cy="1088571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94970" y="2557145"/>
            <a:ext cx="11579225" cy="3460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100" b="1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000" b="1">
                <a:latin typeface="Times New Roman Bold" panose="02020503050405090304" charset="0"/>
                <a:cs typeface="Times New Roman Bold" panose="02020503050405090304" charset="0"/>
              </a:rPr>
              <a:t>Real-Time Operating System for Intelligent Traffic Signal Control.</a:t>
            </a:r>
            <a:r>
              <a:rPr lang="en-US" altLang="en-US" sz="3000">
                <a:latin typeface="Times New Roman Regular" panose="02020503050405090304" charset="0"/>
                <a:cs typeface="Times New Roman Regular" panose="02020503050405090304" charset="0"/>
              </a:rPr>
              <a:t>       </a:t>
            </a:r>
            <a:r>
              <a:rPr lang="en-US" altLang="en-US" sz="3200">
                <a:latin typeface="Times New Roman Regular" panose="02020503050405090304" charset="0"/>
                <a:cs typeface="Times New Roman Regular" panose="02020503050405090304" charset="0"/>
              </a:rPr>
              <a:t>                 </a:t>
            </a:r>
            <a:endParaRPr lang="en-US" altLang="en-US" sz="3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2400" b="1">
                <a:latin typeface="Times New Roman Bold" panose="02020503050405090304" charset="0"/>
                <a:cs typeface="Times New Roman Bold" panose="02020503050405090304" charset="0"/>
              </a:rPr>
              <a:t>This presentation explains:</a:t>
            </a:r>
            <a:endParaRPr lang="en-US" altLang="en-US" sz="24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457200" indent="-457200">
              <a:buFont typeface="Wingdings" panose="05000000000000000000" charset="0"/>
              <a:buChar char=""/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Type of OS used and its justification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Wingdings" panose="05000000000000000000" charset="0"/>
              <a:buChar char=""/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OS structure and components</a:t>
            </a:r>
            <a:endParaRPr lang="en-US" altLang="en-US" sz="24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>
              <a:buFont typeface="Wingdings" panose="05000000000000000000" charset="0"/>
              <a:buChar char=""/>
            </a:pP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System calls used for process control and timing</a:t>
            </a:r>
            <a:r>
              <a:rPr lang="en-US" altLang="en-US" sz="2400">
                <a:latin typeface="Times New Roman Regular" panose="02020503050405090304" charset="0"/>
                <a:cs typeface="Times New Roman Regular" panose="02020503050405090304" charset="0"/>
              </a:rPr>
              <a:t>  </a:t>
            </a:r>
            <a:r>
              <a:rPr lang="en-US" altLang="en-US" sz="2400"/>
              <a:t>   </a:t>
            </a:r>
            <a:r>
              <a:rPr lang="en-US" altLang="en-US"/>
              <a:t> </a:t>
            </a:r>
            <a:endParaRPr lang="en-US" altLang="en-US"/>
          </a:p>
          <a:p>
            <a:pPr marL="457200" indent="-457200">
              <a:buFont typeface="Wingdings" panose="05000000000000000000" charset="0"/>
              <a:buChar char=""/>
            </a:pPr>
            <a:endParaRPr lang="en-US" altLang="en-US"/>
          </a:p>
          <a:p>
            <a:pPr indent="0">
              <a:buFont typeface="Wingdings" panose="05000000000000000000" charset="0"/>
              <a:buNone/>
            </a:pPr>
            <a:r>
              <a:rPr lang="en-US" altLang="en-US"/>
              <a:t>                                                                                                                          </a:t>
            </a:r>
            <a:r>
              <a:rPr lang="en-US" altLang="en-US" b="1"/>
              <a:t>Presented by:K.Divya</a:t>
            </a:r>
            <a:endParaRPr lang="en-US" altLang="en-US" b="1"/>
          </a:p>
          <a:p>
            <a:pPr marL="285750" indent="-285750">
              <a:buFont typeface="Wingdings" panose="05000000000000000000" charset="0"/>
              <a:buChar char=""/>
            </a:pPr>
            <a:endParaRPr lang="en-US" altLang="en-US" sz="1600" b="1"/>
          </a:p>
        </p:txBody>
      </p:sp>
      <p:sp>
        <p:nvSpPr>
          <p:cNvPr id="4" name="Text Box 3"/>
          <p:cNvSpPr txBox="1"/>
          <p:nvPr/>
        </p:nvSpPr>
        <p:spPr>
          <a:xfrm>
            <a:off x="3741420" y="1889760"/>
            <a:ext cx="5259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latin typeface="Times New Roman Bold" panose="02020503050405090304" charset="0"/>
                <a:cs typeface="Times New Roman Bold" panose="02020503050405090304" charset="0"/>
              </a:rPr>
              <a:t>CSA0408 - Operating Systems</a:t>
            </a:r>
            <a:endParaRPr lang="en-US" altLang="en-US" sz="28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94355" y="645160"/>
            <a:ext cx="640270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40"/>
                </a:solidFill>
              </a:defRPr>
            </a:pPr>
            <a:r>
              <a:rPr>
                <a:latin typeface="Times New Roman Bold" panose="02020503050405090304" charset="0"/>
                <a:cs typeface="Times New Roman Bold" panose="02020503050405090304" charset="0"/>
              </a:rPr>
              <a:t>Real-Time Operating System Architecture</a:t>
            </a:r>
            <a:endParaRPr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915795"/>
            <a:ext cx="5672455" cy="3945255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61327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068B4"/>
                </a:solidFill>
              </a:defRPr>
            </a:pPr>
            <a:r>
              <a:rPr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Why does traffic control need an RTOS?</a:t>
            </a:r>
            <a:endParaRPr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1065" y="2355850"/>
            <a:ext cx="4929505" cy="2938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91919"/>
                </a:solidFill>
              </a:defRPr>
            </a:pPr>
            <a:r>
              <a:rPr sz="2000">
                <a:latin typeface="Times New Roman Regular" panose="02020503050405090304" charset="0"/>
                <a:cs typeface="Times New Roman Regular" panose="02020503050405090304" charset="0"/>
              </a:rPr>
              <a:t>• Traffic signals must react to sensor events within predictable deadlines.</a:t>
            </a:r>
            <a:endParaRPr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550">
                <a:solidFill>
                  <a:srgbClr val="191919"/>
                </a:solidFill>
              </a:defRPr>
            </a:pPr>
            <a:r>
              <a:rPr sz="2000">
                <a:latin typeface="Times New Roman Regular" panose="02020503050405090304" charset="0"/>
                <a:cs typeface="Times New Roman Regular" panose="02020503050405090304" charset="0"/>
              </a:rPr>
              <a:t>• RTOS provides deterministic scheduling and accurate timers.</a:t>
            </a:r>
            <a:endParaRPr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550">
                <a:solidFill>
                  <a:srgbClr val="191919"/>
                </a:solidFill>
              </a:defRPr>
            </a:pPr>
            <a:r>
              <a:rPr sz="2000">
                <a:latin typeface="Times New Roman Regular" panose="02020503050405090304" charset="0"/>
                <a:cs typeface="Times New Roman Regular" panose="02020503050405090304" charset="0"/>
              </a:rPr>
              <a:t>• High-priority events such as emergency vehicles can be handled immediately.</a:t>
            </a:r>
            <a:endParaRPr sz="2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550">
                <a:solidFill>
                  <a:srgbClr val="191919"/>
                </a:solidFill>
              </a:defRPr>
            </a:pPr>
            <a:r>
              <a:rPr sz="2000">
                <a:latin typeface="Times New Roman Regular" panose="02020503050405090304" charset="0"/>
                <a:cs typeface="Times New Roman Regular" panose="02020503050405090304" charset="0"/>
              </a:rPr>
              <a:t>• The controller coordinates sensors, timers and signal lamps.</a:t>
            </a:r>
            <a:endParaRPr sz="20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15505" y="2192655"/>
            <a:ext cx="1965960" cy="658368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Traffic Sensors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8250428" y="2899537"/>
            <a:ext cx="0" cy="338328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74205" y="3352800"/>
            <a:ext cx="2423160" cy="72707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RTOS</a:t>
            </a:r>
            <a:br>
              <a:rPr b="0"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Controller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250428" y="4146550"/>
            <a:ext cx="0" cy="36576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01815" y="4645660"/>
            <a:ext cx="2697480" cy="658368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Signal Controller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117455" y="2753360"/>
            <a:ext cx="457200" cy="457200"/>
          </a:xfrm>
          <a:prstGeom prst="ellipse">
            <a:avLst/>
          </a:prstGeom>
          <a:solidFill>
            <a:srgbClr val="CD4646"/>
          </a:solidFill>
          <a:ln w="1270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748645" y="2769107"/>
            <a:ext cx="5130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D4646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RED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156825" y="3626358"/>
            <a:ext cx="457200" cy="457200"/>
          </a:xfrm>
          <a:prstGeom prst="ellipse">
            <a:avLst/>
          </a:prstGeom>
          <a:solidFill>
            <a:srgbClr val="F5BE37"/>
          </a:solidFill>
          <a:ln w="12700">
            <a:solidFill>
              <a:srgbClr val="F5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48645" y="3647820"/>
            <a:ext cx="88011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BE37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YELLOW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0195560" y="4499356"/>
            <a:ext cx="457200" cy="457200"/>
          </a:xfrm>
          <a:prstGeom prst="ellipse">
            <a:avLst/>
          </a:prstGeom>
          <a:solidFill>
            <a:srgbClr val="489664"/>
          </a:solidFill>
          <a:ln w="12700">
            <a:solidFill>
              <a:srgbClr val="4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748645" y="4499863"/>
            <a:ext cx="733425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89664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GREEN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5375" y="5715000"/>
            <a:ext cx="5577840" cy="475488"/>
          </a:xfrm>
          <a:prstGeom prst="roundRect">
            <a:avLst/>
          </a:prstGeom>
          <a:solidFill>
            <a:srgbClr val="EB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RTOS = Operating system designed to respond to events within predictable time limits.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6" name="Google Shape;94;p2"/>
          <p:cNvPicPr/>
          <p:nvPr/>
        </p:nvPicPr>
        <p:blipFill>
          <a:blip r:embed="rId1"/>
          <a:stretch>
            <a:fillRect/>
          </a:stretch>
        </p:blipFill>
        <p:spPr>
          <a:xfrm>
            <a:off x="502200" y="390240"/>
            <a:ext cx="89388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95;p2"/>
          <p:cNvPicPr/>
          <p:nvPr/>
        </p:nvPicPr>
        <p:blipFill>
          <a:blip r:embed="rId2"/>
          <a:stretch>
            <a:fillRect/>
          </a:stretch>
        </p:blipFill>
        <p:spPr>
          <a:xfrm>
            <a:off x="10700280" y="390240"/>
            <a:ext cx="1067400" cy="87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39945" y="361950"/>
            <a:ext cx="464248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440"/>
                </a:solidFill>
              </a:defRPr>
            </a:pPr>
            <a:r>
              <a:rPr>
                <a:latin typeface="Times New Roman Bold" panose="02020503050405090304" charset="0"/>
                <a:cs typeface="Times New Roman Bold" panose="02020503050405090304" charset="0"/>
              </a:rPr>
              <a:t>1. </a:t>
            </a:r>
            <a:r>
              <a:rPr>
                <a:latin typeface="Times New Roman Bold" panose="02020503050405090304" charset="0"/>
                <a:cs typeface="Times New Roman Bold" panose="02020503050405090304" charset="0"/>
              </a:rPr>
              <a:t>OS Type and Justification</a:t>
            </a:r>
            <a:endParaRPr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757045"/>
            <a:ext cx="5120640" cy="566928"/>
          </a:xfrm>
          <a:prstGeom prst="roundRect">
            <a:avLst/>
          </a:prstGeom>
          <a:solidFill>
            <a:srgbClr val="FDEBEB"/>
          </a:solidFill>
          <a:ln w="1905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Hard Real-Time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4984115" cy="145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• Missing a deadline can cause system failure or unsafe behavior.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• Response time is predictable and tightly bounded.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5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• Suitable for safety-critical control loops.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5120640" cy="566928"/>
          </a:xfrm>
          <a:prstGeom prst="roundRect">
            <a:avLst/>
          </a:prstGeom>
          <a:solidFill>
            <a:srgbClr val="EBF2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Soft Real-Time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4918075"/>
            <a:ext cx="4984115" cy="132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• Late results reduce quality, but are usually not catastrophic.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Aft>
                <a:spcPts val="1000"/>
              </a:spcAft>
              <a:defRPr sz="14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• Common in multimedia and general interactive systems.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67755" y="2235200"/>
            <a:ext cx="4983480" cy="914400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Traffic Signal Controller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659368" y="3208020"/>
            <a:ext cx="0" cy="36576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29400" y="3632200"/>
            <a:ext cx="43434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RTOS Scheduler + Timers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8659368" y="4559300"/>
            <a:ext cx="0" cy="365759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29400" y="5353685"/>
            <a:ext cx="4389120" cy="0"/>
          </a:xfrm>
          <a:prstGeom prst="line">
            <a:avLst/>
          </a:prstGeom>
          <a:ln w="2540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922135" y="5207762"/>
            <a:ext cx="292608" cy="292608"/>
          </a:xfrm>
          <a:prstGeom prst="ellipse">
            <a:avLst/>
          </a:prstGeom>
          <a:solidFill>
            <a:srgbClr val="3068B4"/>
          </a:solidFill>
          <a:ln w="1270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398" y="5684012"/>
            <a:ext cx="122745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rPr sz="1600" b="0">
                <a:latin typeface="Times New Roman Regular" panose="02020503050405090304" charset="0"/>
                <a:cs typeface="Times New Roman Regular" panose="02020503050405090304" charset="0"/>
              </a:rPr>
              <a:t>Sensor event</a:t>
            </a:r>
            <a:endParaRPr sz="1600"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659495" y="5207762"/>
            <a:ext cx="292608" cy="292608"/>
          </a:xfrm>
          <a:prstGeom prst="ellipse">
            <a:avLst/>
          </a:prstGeom>
          <a:solidFill>
            <a:srgbClr val="3068B4"/>
          </a:solidFill>
          <a:ln w="1270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5808" y="5684647"/>
            <a:ext cx="91630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rPr sz="1600" b="0">
                <a:latin typeface="Times New Roman Regular" panose="02020503050405090304" charset="0"/>
                <a:cs typeface="Times New Roman Regular" panose="02020503050405090304" charset="0"/>
              </a:rPr>
              <a:t>Deadline</a:t>
            </a:r>
            <a:endParaRPr sz="1600"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287000" y="5207762"/>
            <a:ext cx="292608" cy="292608"/>
          </a:xfrm>
          <a:prstGeom prst="ellipse">
            <a:avLst/>
          </a:prstGeom>
          <a:solidFill>
            <a:srgbClr val="3068B4"/>
          </a:solidFill>
          <a:ln w="1270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65068" y="5782437"/>
            <a:ext cx="73596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/>
            </a:pPr>
            <a:r>
              <a:rPr sz="1600" b="0">
                <a:latin typeface="Times New Roman Regular" panose="02020503050405090304" charset="0"/>
                <a:cs typeface="Times New Roman Regular" panose="02020503050405090304" charset="0"/>
              </a:rPr>
              <a:t>Action</a:t>
            </a:r>
            <a:endParaRPr sz="1600"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6" name="Google Shape;94;p2"/>
          <p:cNvPicPr/>
          <p:nvPr/>
        </p:nvPicPr>
        <p:blipFill>
          <a:blip r:embed="rId1"/>
          <a:stretch>
            <a:fillRect/>
          </a:stretch>
        </p:blipFill>
        <p:spPr>
          <a:xfrm>
            <a:off x="502200" y="390240"/>
            <a:ext cx="89388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95;p2"/>
          <p:cNvPicPr/>
          <p:nvPr/>
        </p:nvPicPr>
        <p:blipFill>
          <a:blip r:embed="rId2"/>
          <a:stretch>
            <a:fillRect/>
          </a:stretch>
        </p:blipFill>
        <p:spPr>
          <a:xfrm>
            <a:off x="10700280" y="390240"/>
            <a:ext cx="1067400" cy="87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25725" y="450850"/>
            <a:ext cx="7628255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2. RTOS </a:t>
            </a:r>
            <a:r>
              <a:rPr>
                <a:latin typeface="Times New Roman Bold" panose="02020503050405090304" charset="0"/>
                <a:cs typeface="Times New Roman Bold" panose="02020503050405090304" charset="0"/>
              </a:rPr>
              <a:t>Architecture </a:t>
            </a: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and Components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304925"/>
            <a:ext cx="2743200" cy="594360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Application Layer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061845"/>
            <a:ext cx="2743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Traffic Control Tasks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2832735"/>
            <a:ext cx="2743200" cy="1325880"/>
          </a:xfrm>
          <a:prstGeom prst="roundRect">
            <a:avLst/>
          </a:prstGeom>
          <a:solidFill>
            <a:srgbClr val="E8F2FA"/>
          </a:solidFill>
          <a:ln w="19050">
            <a:solidFill>
              <a:srgbClr val="14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RTOS Kernel</a:t>
            </a:r>
            <a:br>
              <a:rPr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Scheduler • Timers</a:t>
            </a:r>
            <a:br>
              <a:rPr>
                <a:latin typeface="Times New Roman Regular" panose="02020503050405090304" charset="0"/>
                <a:cs typeface="Times New Roman Regular" panose="02020503050405090304" charset="0"/>
              </a:rPr>
            </a:b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IPC • Interrupts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274320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Device Drivers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5248910"/>
            <a:ext cx="2743200" cy="594360"/>
          </a:xfrm>
          <a:prstGeom prst="roundRect">
            <a:avLst/>
          </a:prstGeom>
          <a:solidFill>
            <a:srgbClr val="FAF2E8"/>
          </a:solidFill>
          <a:ln w="19050">
            <a:solidFill>
              <a:srgbClr val="E6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Hardware / Sensors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103120" y="1877695"/>
            <a:ext cx="0" cy="137160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03120" y="2677795"/>
            <a:ext cx="0" cy="137159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4193539"/>
            <a:ext cx="0" cy="137161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03120" y="5024755"/>
            <a:ext cx="0" cy="137160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73575" y="1234440"/>
            <a:ext cx="14173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Scheduler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1925" y="1487932"/>
            <a:ext cx="41128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919"/>
                </a:solidFill>
              </a:defRPr>
            </a:pPr>
            <a:r>
              <a:rPr sz="1800">
                <a:latin typeface="Times New Roman Regular" panose="02020503050405090304" charset="0"/>
                <a:cs typeface="Times New Roman Regular" panose="02020503050405090304" charset="0"/>
              </a:rPr>
              <a:t>Selects the highest-priority ready task.</a:t>
            </a:r>
            <a:endParaRPr sz="18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042025" y="1577721"/>
            <a:ext cx="137160" cy="0"/>
          </a:xfrm>
          <a:prstGeom prst="line">
            <a:avLst/>
          </a:prstGeom>
          <a:ln w="19050">
            <a:solidFill>
              <a:srgbClr val="3068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73575" y="2190877"/>
            <a:ext cx="14173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Timer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11925" y="2386584"/>
            <a:ext cx="342582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919"/>
                </a:solidFill>
              </a:defRPr>
            </a:pPr>
            <a:r>
              <a:rPr sz="1600">
                <a:latin typeface="Times New Roman Regular" panose="02020503050405090304" charset="0"/>
                <a:cs typeface="Times New Roman Regular" panose="02020503050405090304" charset="0"/>
              </a:rPr>
              <a:t>Generates accurate signal intervals.</a:t>
            </a:r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6038850" y="2470023"/>
            <a:ext cx="137160" cy="0"/>
          </a:xfrm>
          <a:prstGeom prst="line">
            <a:avLst/>
          </a:prstGeom>
          <a:ln w="19050">
            <a:solidFill>
              <a:srgbClr val="228B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73575" y="3302254"/>
            <a:ext cx="14173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Interrupts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11925" y="3478276"/>
            <a:ext cx="43942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919"/>
                </a:solidFill>
              </a:defRPr>
            </a:pPr>
            <a:r>
              <a:rPr sz="1600">
                <a:latin typeface="Times New Roman Regular" panose="02020503050405090304" charset="0"/>
                <a:cs typeface="Times New Roman Regular" panose="02020503050405090304" charset="0"/>
              </a:rPr>
              <a:t>Respond quickly to sensor/emergency events.</a:t>
            </a:r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48375" y="3608070"/>
            <a:ext cx="137160" cy="0"/>
          </a:xfrm>
          <a:prstGeom prst="line">
            <a:avLst/>
          </a:prstGeom>
          <a:ln w="19050">
            <a:solidFill>
              <a:srgbClr val="CD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73575" y="4413631"/>
            <a:ext cx="1417320" cy="6217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IPC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1925" y="4571238"/>
            <a:ext cx="3270885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1919"/>
                </a:solidFill>
              </a:defRPr>
            </a:pPr>
            <a:r>
              <a:rPr sz="1600">
                <a:latin typeface="Times New Roman Regular" panose="02020503050405090304" charset="0"/>
                <a:cs typeface="Times New Roman Regular" panose="02020503050405090304" charset="0"/>
              </a:rPr>
              <a:t>Allows tasks to exchange events/data.</a:t>
            </a:r>
            <a:endParaRPr sz="16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038850" y="4746116"/>
            <a:ext cx="137160" cy="0"/>
          </a:xfrm>
          <a:prstGeom prst="line">
            <a:avLst/>
          </a:prstGeom>
          <a:ln w="19050">
            <a:solidFill>
              <a:srgbClr val="E67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276850" y="5638165"/>
            <a:ext cx="1097280" cy="438912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Sensor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6374130" y="5843016"/>
            <a:ext cx="411480" cy="0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44030" y="5603875"/>
            <a:ext cx="1097280" cy="4389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Kernel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7941310" y="5803646"/>
            <a:ext cx="411480" cy="0"/>
          </a:xfrm>
          <a:prstGeom prst="line">
            <a:avLst/>
          </a:prstGeom>
          <a:ln w="1905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73110" y="5623560"/>
            <a:ext cx="1097280" cy="438912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2440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Lamp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6" name="Google Shape;94;p2"/>
          <p:cNvPicPr/>
          <p:nvPr/>
        </p:nvPicPr>
        <p:blipFill>
          <a:blip r:embed="rId1"/>
          <a:stretch>
            <a:fillRect/>
          </a:stretch>
        </p:blipFill>
        <p:spPr>
          <a:xfrm>
            <a:off x="502835" y="267685"/>
            <a:ext cx="89388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95;p2"/>
          <p:cNvPicPr/>
          <p:nvPr/>
        </p:nvPicPr>
        <p:blipFill>
          <a:blip r:embed="rId2"/>
          <a:stretch>
            <a:fillRect/>
          </a:stretch>
        </p:blipFill>
        <p:spPr>
          <a:xfrm>
            <a:off x="10700280" y="390240"/>
            <a:ext cx="1067400" cy="87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37635" y="208915"/>
            <a:ext cx="438340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3. Process Control and Timing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331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Sensor Task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429000" y="1234440"/>
            <a:ext cx="2331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Signal Task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89320" y="1156335"/>
            <a:ext cx="2331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Emergency Task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23325" y="1234440"/>
            <a:ext cx="2331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Timer Task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2606675"/>
            <a:ext cx="3474720" cy="749808"/>
          </a:xfrm>
          <a:prstGeom prst="roundRect">
            <a:avLst/>
          </a:prstGeom>
          <a:solidFill>
            <a:srgbClr val="E8F2FA"/>
          </a:solidFill>
          <a:ln w="19050">
            <a:solidFill>
              <a:srgbClr val="14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Priority Scheduler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560320" y="1828800"/>
            <a:ext cx="3540125" cy="673100"/>
          </a:xfrm>
          <a:prstGeom prst="line">
            <a:avLst/>
          </a:prstGeom>
          <a:ln w="1778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51805" y="1828800"/>
            <a:ext cx="548640" cy="673100"/>
          </a:xfrm>
          <a:prstGeom prst="line">
            <a:avLst/>
          </a:prstGeom>
          <a:ln w="1778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2"/>
          </p:cNvCxnSpPr>
          <p:nvPr/>
        </p:nvCxnSpPr>
        <p:spPr>
          <a:xfrm flipH="1">
            <a:off x="6100445" y="1750695"/>
            <a:ext cx="1054735" cy="751205"/>
          </a:xfrm>
          <a:prstGeom prst="line">
            <a:avLst/>
          </a:prstGeom>
          <a:ln w="1778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100445" y="1828800"/>
            <a:ext cx="3272155" cy="673100"/>
          </a:xfrm>
          <a:prstGeom prst="line">
            <a:avLst/>
          </a:prstGeom>
          <a:ln w="1778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246120"/>
            <a:ext cx="2189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Example timing cycle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0320" y="3830828"/>
            <a:ext cx="2011680" cy="594360"/>
          </a:xfrm>
          <a:prstGeom prst="rect">
            <a:avLst/>
          </a:prstGeom>
          <a:solidFill>
            <a:srgbClr val="CD464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RED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84700" y="3814953"/>
            <a:ext cx="2926080" cy="594360"/>
          </a:xfrm>
          <a:prstGeom prst="rect">
            <a:avLst/>
          </a:prstGeom>
          <a:solidFill>
            <a:srgbClr val="4896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GREEN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89519" y="3840353"/>
            <a:ext cx="1005840" cy="594360"/>
          </a:xfrm>
          <a:prstGeom prst="rect">
            <a:avLst/>
          </a:prstGeom>
          <a:solidFill>
            <a:srgbClr val="F5BE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YELLOW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7440" y="4479290"/>
            <a:ext cx="535305" cy="4495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00">
                <a:solidFill>
                  <a:srgbClr val="5A6473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0s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34840" y="4485132"/>
            <a:ext cx="35941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3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30s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60919" y="4475607"/>
            <a:ext cx="35941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3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70s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1039" y="4475607"/>
            <a:ext cx="35941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473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75s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1874519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sleep()/timer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560320" y="5578475"/>
            <a:ext cx="1097280" cy="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77285" y="5212080"/>
            <a:ext cx="1874519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event / interrupt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571490" y="5578475"/>
            <a:ext cx="1097280" cy="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708140" y="5277485"/>
            <a:ext cx="1874520" cy="5816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scheduler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601710" y="5558790"/>
            <a:ext cx="1097280" cy="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77730" y="5219065"/>
            <a:ext cx="1874519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signal update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6" name="Google Shape;94;p2"/>
          <p:cNvPicPr/>
          <p:nvPr/>
        </p:nvPicPr>
        <p:blipFill>
          <a:blip r:embed="rId1"/>
          <a:stretch>
            <a:fillRect/>
          </a:stretch>
        </p:blipFill>
        <p:spPr>
          <a:xfrm>
            <a:off x="502200" y="208630"/>
            <a:ext cx="89388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95;p2"/>
          <p:cNvPicPr/>
          <p:nvPr/>
        </p:nvPicPr>
        <p:blipFill>
          <a:blip r:embed="rId2"/>
          <a:stretch>
            <a:fillRect/>
          </a:stretch>
        </p:blipFill>
        <p:spPr>
          <a:xfrm>
            <a:off x="10700280" y="208630"/>
            <a:ext cx="1067400" cy="87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42335" y="169545"/>
            <a:ext cx="6250305" cy="506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4. System Calls and Complete Control Flow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4360" y="1260475"/>
            <a:ext cx="2148840" cy="431165"/>
          </a:xfrm>
          <a:prstGeom prst="roundRect">
            <a:avLst/>
          </a:prstGeom>
          <a:solidFill>
            <a:srgbClr val="142440"/>
          </a:solidFill>
          <a:ln w="19050">
            <a:solidFill>
              <a:srgbClr val="14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System Call / Service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43200" y="1262380"/>
            <a:ext cx="2468880" cy="429260"/>
          </a:xfrm>
          <a:prstGeom prst="roundRect">
            <a:avLst/>
          </a:prstGeom>
          <a:solidFill>
            <a:srgbClr val="142440"/>
          </a:solidFill>
          <a:ln w="19050">
            <a:solidFill>
              <a:srgbClr val="14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Purpose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212080" y="1260475"/>
            <a:ext cx="1828800" cy="431165"/>
          </a:xfrm>
          <a:prstGeom prst="roundRect">
            <a:avLst/>
          </a:prstGeom>
          <a:solidFill>
            <a:srgbClr val="142440"/>
          </a:solidFill>
          <a:ln w="19050">
            <a:solidFill>
              <a:srgbClr val="14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Traffic Use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737360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Task create/start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0" y="1737360"/>
            <a:ext cx="24688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Create a control task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12080" y="173736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Sensor / signal task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2450591"/>
            <a:ext cx="214884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Timer / sleep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0" y="2450591"/>
            <a:ext cx="246888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Wait for a time interval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12080" y="2450591"/>
            <a:ext cx="182880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Red/green duration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4360" y="3163824"/>
            <a:ext cx="21488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Interrupt service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0" y="3163824"/>
            <a:ext cx="24688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Handle urgent events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212080" y="3163824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Emergency vehicle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4360" y="3877056"/>
            <a:ext cx="214884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IPC / event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0" y="3876421"/>
            <a:ext cx="246888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Exchange data/events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212080" y="3877056"/>
            <a:ext cx="1828800" cy="640080"/>
          </a:xfrm>
          <a:prstGeom prst="rect">
            <a:avLst/>
          </a:prstGeom>
          <a:solidFill>
            <a:srgbClr val="EFF4F9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>
                <a:solidFill>
                  <a:srgbClr val="191919"/>
                </a:solidFill>
              </a:defRPr>
            </a:pPr>
            <a:r>
              <a:rPr>
                <a:latin typeface="Times New Roman Regular" panose="02020503050405090304" charset="0"/>
                <a:cs typeface="Times New Roman Regular" panose="02020503050405090304" charset="0"/>
              </a:rPr>
              <a:t>Sensor → controller</a:t>
            </a:r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2360" y="1234440"/>
            <a:ext cx="1188720" cy="594360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Sensor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1536192"/>
            <a:ext cx="365760" cy="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06840" y="1234440"/>
            <a:ext cx="11887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Kernel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0195560" y="1536192"/>
            <a:ext cx="365760" cy="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561320" y="1234440"/>
            <a:ext cx="1188720" cy="594360"/>
          </a:xfrm>
          <a:prstGeom prst="roundRect">
            <a:avLst/>
          </a:prstGeom>
          <a:solidFill>
            <a:srgbClr val="E0EDFA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Signal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06640" y="246888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1. Sensor event detected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9692640" y="3200400"/>
            <a:ext cx="0" cy="32004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06640" y="352044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2. Interrupt / event reaches RTOS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9692640" y="4251960"/>
            <a:ext cx="0" cy="32004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06640" y="4572000"/>
            <a:ext cx="457200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3. Scheduler runs correct task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5303520"/>
            <a:ext cx="0" cy="228600"/>
          </a:xfrm>
          <a:prstGeom prst="line">
            <a:avLst/>
          </a:prstGeom>
          <a:ln w="27940">
            <a:solidFill>
              <a:srgbClr val="5A64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06640" y="5532120"/>
            <a:ext cx="4572000" cy="566928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48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2440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4. Signal output is updated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85800" y="5274945"/>
            <a:ext cx="6355080" cy="714375"/>
          </a:xfrm>
          <a:prstGeom prst="roundRect">
            <a:avLst/>
          </a:prstGeom>
          <a:solidFill>
            <a:srgbClr val="EBF2FA"/>
          </a:solidFill>
          <a:ln>
            <a:solidFill>
              <a:srgbClr val="30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440"/>
                </a:solidFill>
              </a:defRPr>
            </a:pP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spcBef>
                <a:spcPts val="700"/>
              </a:spcBef>
              <a:defRPr sz="1300">
                <a:solidFill>
                  <a:srgbClr val="191919"/>
                </a:solidFill>
              </a:defRPr>
            </a:pPr>
            <a:r>
              <a:rPr b="0">
                <a:latin typeface="Times New Roman Regular" panose="02020503050405090304" charset="0"/>
                <a:cs typeface="Times New Roman Regular" panose="02020503050405090304" charset="0"/>
              </a:rPr>
              <a:t>RTOS combines deterministic scheduling, timers, interrupts and system calls to make traffic signal decisions predictable and responsive.</a:t>
            </a:r>
            <a:endParaRPr b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4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46" name="Google Shape;94;p2"/>
          <p:cNvPicPr/>
          <p:nvPr/>
        </p:nvPicPr>
        <p:blipFill>
          <a:blip r:embed="rId1"/>
          <a:stretch>
            <a:fillRect/>
          </a:stretch>
        </p:blipFill>
        <p:spPr>
          <a:xfrm>
            <a:off x="594275" y="155290"/>
            <a:ext cx="893880" cy="87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oogle Shape;95;p2"/>
          <p:cNvPicPr/>
          <p:nvPr/>
        </p:nvPicPr>
        <p:blipFill>
          <a:blip r:embed="rId2"/>
          <a:stretch>
            <a:fillRect/>
          </a:stretch>
        </p:blipFill>
        <p:spPr>
          <a:xfrm>
            <a:off x="10700280" y="194025"/>
            <a:ext cx="1067400" cy="874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HOTO-2026-10-05-09-20-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215" y="669925"/>
            <a:ext cx="9392285" cy="5814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2420</Words>
  <Application>WPS Presentation</Application>
  <PresentationFormat>On-screen Show (4:3)</PresentationFormat>
  <Paragraphs>176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 Bold</vt:lpstr>
      <vt:lpstr>Times New Roman Regular</vt:lpstr>
      <vt:lpstr>Wingdings</vt:lpstr>
      <vt:lpstr>Calibri</vt:lpstr>
      <vt:lpstr>Helvetica Neue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DIVYA K</cp:lastModifiedBy>
  <cp:revision>7</cp:revision>
  <dcterms:created xsi:type="dcterms:W3CDTF">2026-10-05T03:51:39Z</dcterms:created>
  <dcterms:modified xsi:type="dcterms:W3CDTF">2026-10-05T03:51:39Z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B56A078FFEF572537F13BD6A433830C8_43</vt:lpwstr>
  </property>
</Properties>
</file>